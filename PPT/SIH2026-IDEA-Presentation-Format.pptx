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hfQx9O+U+G2wjoXrDPq++Tkhtn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italic.fntdata"/><Relationship Id="rId14" Type="http://schemas.openxmlformats.org/officeDocument/2006/relationships/font" Target="fonts/Garamond-bold.fntdata"/><Relationship Id="rId17" Type="http://schemas.openxmlformats.org/officeDocument/2006/relationships/font" Target="fonts/Oswald-regular.fntdata"/><Relationship Id="rId16" Type="http://schemas.openxmlformats.org/officeDocument/2006/relationships/font" Target="fonts/Garamond-boldItalic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19565" y="485925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p1"/>
          <p:cNvGrpSpPr/>
          <p:nvPr/>
        </p:nvGrpSpPr>
        <p:grpSpPr>
          <a:xfrm>
            <a:off x="3776704" y="1063820"/>
            <a:ext cx="4638605" cy="5154967"/>
            <a:chOff x="5656780" y="851521"/>
            <a:chExt cx="4638605" cy="5154967"/>
          </a:xfrm>
        </p:grpSpPr>
        <p:sp>
          <p:nvSpPr>
            <p:cNvPr id="90" name="Google Shape;90;p1"/>
            <p:cNvSpPr/>
            <p:nvPr/>
          </p:nvSpPr>
          <p:spPr>
            <a:xfrm>
              <a:off x="5656780" y="851521"/>
              <a:ext cx="4638605" cy="5154967"/>
            </a:xfrm>
            <a:custGeom>
              <a:rect b="b" l="l" r="r" t="t"/>
              <a:pathLst>
                <a:path extrusionOk="0" h="5154967" w="6184806">
                  <a:moveTo>
                    <a:pt x="363179" y="3125191"/>
                  </a:moveTo>
                  <a:cubicBezTo>
                    <a:pt x="363179" y="3125191"/>
                    <a:pt x="363179" y="3125191"/>
                    <a:pt x="898270" y="3125191"/>
                  </a:cubicBezTo>
                  <a:cubicBezTo>
                    <a:pt x="931786" y="3125191"/>
                    <a:pt x="964145" y="3143614"/>
                    <a:pt x="980326" y="3173551"/>
                  </a:cubicBezTo>
                  <a:cubicBezTo>
                    <a:pt x="980326" y="3173551"/>
                    <a:pt x="980326" y="3173551"/>
                    <a:pt x="1248448" y="3635277"/>
                  </a:cubicBezTo>
                  <a:cubicBezTo>
                    <a:pt x="1265784" y="3664063"/>
                    <a:pt x="1265784" y="3700909"/>
                    <a:pt x="1248448" y="3729695"/>
                  </a:cubicBezTo>
                  <a:cubicBezTo>
                    <a:pt x="1248448" y="3729695"/>
                    <a:pt x="1248448" y="3729695"/>
                    <a:pt x="980326" y="4191421"/>
                  </a:cubicBezTo>
                  <a:cubicBezTo>
                    <a:pt x="964145" y="4221358"/>
                    <a:pt x="931786" y="4239781"/>
                    <a:pt x="898270" y="4239781"/>
                  </a:cubicBezTo>
                  <a:cubicBezTo>
                    <a:pt x="898270" y="4239781"/>
                    <a:pt x="898270" y="4239781"/>
                    <a:pt x="363179" y="4239781"/>
                  </a:cubicBezTo>
                  <a:cubicBezTo>
                    <a:pt x="328508" y="4239781"/>
                    <a:pt x="297305" y="4221358"/>
                    <a:pt x="279969" y="4191421"/>
                  </a:cubicBezTo>
                  <a:cubicBezTo>
                    <a:pt x="279969" y="4191421"/>
                    <a:pt x="279969" y="4191421"/>
                    <a:pt x="13002" y="3729695"/>
                  </a:cubicBezTo>
                  <a:cubicBezTo>
                    <a:pt x="-4334" y="3700909"/>
                    <a:pt x="-4334" y="3664063"/>
                    <a:pt x="13002" y="3635277"/>
                  </a:cubicBezTo>
                  <a:cubicBezTo>
                    <a:pt x="13002" y="3635277"/>
                    <a:pt x="13002" y="3635277"/>
                    <a:pt x="279969" y="3173551"/>
                  </a:cubicBezTo>
                  <a:cubicBezTo>
                    <a:pt x="297305" y="3143614"/>
                    <a:pt x="328508" y="3125191"/>
                    <a:pt x="363179" y="3125191"/>
                  </a:cubicBezTo>
                  <a:close/>
                  <a:moveTo>
                    <a:pt x="2489721" y="570035"/>
                  </a:moveTo>
                  <a:cubicBezTo>
                    <a:pt x="2489721" y="570035"/>
                    <a:pt x="2489721" y="570035"/>
                    <a:pt x="2764862" y="570035"/>
                  </a:cubicBezTo>
                  <a:lnTo>
                    <a:pt x="2796959" y="570035"/>
                  </a:lnTo>
                  <a:lnTo>
                    <a:pt x="2827587" y="622777"/>
                  </a:lnTo>
                  <a:cubicBezTo>
                    <a:pt x="2870233" y="696217"/>
                    <a:pt x="2919858" y="781675"/>
                    <a:pt x="2977604" y="881117"/>
                  </a:cubicBezTo>
                  <a:cubicBezTo>
                    <a:pt x="3004153" y="925204"/>
                    <a:pt x="3004153" y="981634"/>
                    <a:pt x="2977604" y="1025720"/>
                  </a:cubicBezTo>
                  <a:cubicBezTo>
                    <a:pt x="2977604" y="1025720"/>
                    <a:pt x="2977604" y="1025720"/>
                    <a:pt x="2566968" y="1732863"/>
                  </a:cubicBezTo>
                  <a:cubicBezTo>
                    <a:pt x="2542188" y="1778712"/>
                    <a:pt x="2492629" y="1806927"/>
                    <a:pt x="2441299" y="1806927"/>
                  </a:cubicBezTo>
                  <a:cubicBezTo>
                    <a:pt x="2441299" y="1806927"/>
                    <a:pt x="2441299" y="1806927"/>
                    <a:pt x="1621798" y="1806927"/>
                  </a:cubicBezTo>
                  <a:cubicBezTo>
                    <a:pt x="1608523" y="1806927"/>
                    <a:pt x="1595580" y="1805163"/>
                    <a:pt x="1583218" y="1801802"/>
                  </a:cubicBezTo>
                  <a:lnTo>
                    <a:pt x="1556683" y="1790677"/>
                  </a:lnTo>
                  <a:lnTo>
                    <a:pt x="1572899" y="1762630"/>
                  </a:lnTo>
                  <a:cubicBezTo>
                    <a:pt x="1719523" y="1509042"/>
                    <a:pt x="1907201" y="1184448"/>
                    <a:pt x="2147429" y="768968"/>
                  </a:cubicBezTo>
                  <a:cubicBezTo>
                    <a:pt x="2218739" y="645819"/>
                    <a:pt x="2347099" y="570035"/>
                    <a:pt x="2489721" y="570035"/>
                  </a:cubicBezTo>
                  <a:close/>
                  <a:moveTo>
                    <a:pt x="1573268" y="0"/>
                  </a:moveTo>
                  <a:cubicBezTo>
                    <a:pt x="1573268" y="0"/>
                    <a:pt x="1573268" y="0"/>
                    <a:pt x="2497662" y="0"/>
                  </a:cubicBezTo>
                  <a:cubicBezTo>
                    <a:pt x="2555561" y="0"/>
                    <a:pt x="2611463" y="31828"/>
                    <a:pt x="2639415" y="83546"/>
                  </a:cubicBezTo>
                  <a:cubicBezTo>
                    <a:pt x="2639415" y="83546"/>
                    <a:pt x="2639415" y="83546"/>
                    <a:pt x="2887862" y="511387"/>
                  </a:cubicBezTo>
                  <a:lnTo>
                    <a:pt x="2915928" y="559720"/>
                  </a:lnTo>
                  <a:lnTo>
                    <a:pt x="2893844" y="559720"/>
                  </a:lnTo>
                  <a:lnTo>
                    <a:pt x="2789466" y="559720"/>
                  </a:lnTo>
                  <a:lnTo>
                    <a:pt x="2744122" y="481634"/>
                  </a:lnTo>
                  <a:cubicBezTo>
                    <a:pt x="2570885" y="183309"/>
                    <a:pt x="2570885" y="183309"/>
                    <a:pt x="2570885" y="183309"/>
                  </a:cubicBezTo>
                  <a:cubicBezTo>
                    <a:pt x="2546104" y="137459"/>
                    <a:pt x="2496545" y="109243"/>
                    <a:pt x="2445216" y="109243"/>
                  </a:cubicBezTo>
                  <a:cubicBezTo>
                    <a:pt x="1625714" y="109243"/>
                    <a:pt x="1625714" y="109243"/>
                    <a:pt x="1625714" y="109243"/>
                  </a:cubicBezTo>
                  <a:cubicBezTo>
                    <a:pt x="1572615" y="109243"/>
                    <a:pt x="1524825" y="137459"/>
                    <a:pt x="1498276" y="183309"/>
                  </a:cubicBezTo>
                  <a:cubicBezTo>
                    <a:pt x="1089410" y="890450"/>
                    <a:pt x="1089410" y="890450"/>
                    <a:pt x="1089410" y="890450"/>
                  </a:cubicBezTo>
                  <a:cubicBezTo>
                    <a:pt x="1062860" y="934537"/>
                    <a:pt x="1062860" y="990967"/>
                    <a:pt x="1089410" y="1035054"/>
                  </a:cubicBezTo>
                  <a:cubicBezTo>
                    <a:pt x="1498276" y="1742196"/>
                    <a:pt x="1498276" y="1742196"/>
                    <a:pt x="1498276" y="1742196"/>
                  </a:cubicBezTo>
                  <a:cubicBezTo>
                    <a:pt x="1511551" y="1765121"/>
                    <a:pt x="1530135" y="1783637"/>
                    <a:pt x="1552039" y="1796422"/>
                  </a:cubicBezTo>
                  <a:lnTo>
                    <a:pt x="1558260" y="1799029"/>
                  </a:lnTo>
                  <a:lnTo>
                    <a:pt x="1524911" y="1856707"/>
                  </a:lnTo>
                  <a:lnTo>
                    <a:pt x="1500108" y="1899604"/>
                  </a:lnTo>
                  <a:lnTo>
                    <a:pt x="1525834" y="1910390"/>
                  </a:lnTo>
                  <a:cubicBezTo>
                    <a:pt x="1539779" y="1914181"/>
                    <a:pt x="1554378" y="1916170"/>
                    <a:pt x="1569352" y="1916170"/>
                  </a:cubicBezTo>
                  <a:cubicBezTo>
                    <a:pt x="2493745" y="1916170"/>
                    <a:pt x="2493745" y="1916170"/>
                    <a:pt x="2493745" y="1916170"/>
                  </a:cubicBezTo>
                  <a:cubicBezTo>
                    <a:pt x="2551645" y="1916170"/>
                    <a:pt x="2607546" y="1884345"/>
                    <a:pt x="2635498" y="1832627"/>
                  </a:cubicBezTo>
                  <a:cubicBezTo>
                    <a:pt x="3098693" y="1034974"/>
                    <a:pt x="3098693" y="1034974"/>
                    <a:pt x="3098693" y="1034974"/>
                  </a:cubicBezTo>
                  <a:cubicBezTo>
                    <a:pt x="3128641" y="985246"/>
                    <a:pt x="3128641" y="921593"/>
                    <a:pt x="3098693" y="871863"/>
                  </a:cubicBezTo>
                  <a:cubicBezTo>
                    <a:pt x="3040794" y="772157"/>
                    <a:pt x="2990132" y="684914"/>
                    <a:pt x="2945803" y="608576"/>
                  </a:cubicBezTo>
                  <a:lnTo>
                    <a:pt x="2923422" y="570035"/>
                  </a:lnTo>
                  <a:lnTo>
                    <a:pt x="3027104" y="570035"/>
                  </a:lnTo>
                  <a:cubicBezTo>
                    <a:pt x="3349535" y="570035"/>
                    <a:pt x="3865424" y="570035"/>
                    <a:pt x="4690846" y="570035"/>
                  </a:cubicBezTo>
                  <a:cubicBezTo>
                    <a:pt x="4828714" y="570035"/>
                    <a:pt x="4961827" y="645819"/>
                    <a:pt x="5028384" y="768968"/>
                  </a:cubicBezTo>
                  <a:cubicBezTo>
                    <a:pt x="5028384" y="768968"/>
                    <a:pt x="5028384" y="768968"/>
                    <a:pt x="6131323" y="2668304"/>
                  </a:cubicBezTo>
                  <a:cubicBezTo>
                    <a:pt x="6202634" y="2786717"/>
                    <a:pt x="6202634" y="2938285"/>
                    <a:pt x="6131323" y="3056698"/>
                  </a:cubicBezTo>
                  <a:cubicBezTo>
                    <a:pt x="6131323" y="3056698"/>
                    <a:pt x="6131323" y="3056698"/>
                    <a:pt x="5028384" y="4956035"/>
                  </a:cubicBezTo>
                  <a:cubicBezTo>
                    <a:pt x="4961827" y="5079184"/>
                    <a:pt x="4828714" y="5154967"/>
                    <a:pt x="4690846" y="5154967"/>
                  </a:cubicBezTo>
                  <a:cubicBezTo>
                    <a:pt x="4690846" y="5154967"/>
                    <a:pt x="4690846" y="5154967"/>
                    <a:pt x="2489721" y="5154967"/>
                  </a:cubicBezTo>
                  <a:cubicBezTo>
                    <a:pt x="2347099" y="5154967"/>
                    <a:pt x="2218739" y="5079184"/>
                    <a:pt x="2147429" y="4956035"/>
                  </a:cubicBezTo>
                  <a:cubicBezTo>
                    <a:pt x="2147429" y="4956035"/>
                    <a:pt x="2147429" y="4956035"/>
                    <a:pt x="1049243" y="3056698"/>
                  </a:cubicBezTo>
                  <a:cubicBezTo>
                    <a:pt x="977932" y="2938285"/>
                    <a:pt x="977932" y="2786717"/>
                    <a:pt x="1049243" y="2668304"/>
                  </a:cubicBezTo>
                  <a:cubicBezTo>
                    <a:pt x="1049243" y="2668304"/>
                    <a:pt x="1049243" y="2668304"/>
                    <a:pt x="1457007" y="1963067"/>
                  </a:cubicBezTo>
                  <a:lnTo>
                    <a:pt x="1491373" y="1903634"/>
                  </a:lnTo>
                  <a:lnTo>
                    <a:pt x="1490164" y="1903127"/>
                  </a:lnTo>
                  <a:cubicBezTo>
                    <a:pt x="1465456" y="1888705"/>
                    <a:pt x="1444493" y="1867820"/>
                    <a:pt x="1429519" y="1841960"/>
                  </a:cubicBezTo>
                  <a:cubicBezTo>
                    <a:pt x="1429519" y="1841960"/>
                    <a:pt x="1429519" y="1841960"/>
                    <a:pt x="968320" y="1044307"/>
                  </a:cubicBezTo>
                  <a:cubicBezTo>
                    <a:pt x="938371" y="994579"/>
                    <a:pt x="938371" y="930926"/>
                    <a:pt x="968320" y="881196"/>
                  </a:cubicBezTo>
                  <a:cubicBezTo>
                    <a:pt x="968320" y="881196"/>
                    <a:pt x="968320" y="881196"/>
                    <a:pt x="1429519" y="83546"/>
                  </a:cubicBezTo>
                  <a:cubicBezTo>
                    <a:pt x="1459466" y="31828"/>
                    <a:pt x="1513373" y="0"/>
                    <a:pt x="1573268" y="0"/>
                  </a:cubicBezTo>
                  <a:close/>
                </a:path>
              </a:pathLst>
            </a:custGeom>
            <a:solidFill>
              <a:srgbClr val="7F7F7F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1" name="Google Shape;91;p1"/>
            <p:cNvPicPr preferRelativeResize="0"/>
            <p:nvPr/>
          </p:nvPicPr>
          <p:blipFill rotWithShape="1">
            <a:blip r:embed="rId3">
              <a:alphaModFix/>
            </a:blip>
            <a:srcRect b="0" l="0" r="59917" t="0"/>
            <a:stretch/>
          </p:blipFill>
          <p:spPr>
            <a:xfrm>
              <a:off x="7091866" y="1715881"/>
              <a:ext cx="3203507" cy="34262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" name="Google Shape;92;p1"/>
          <p:cNvSpPr txBox="1"/>
          <p:nvPr>
            <p:ph type="ctrTitle"/>
          </p:nvPr>
        </p:nvSpPr>
        <p:spPr>
          <a:xfrm>
            <a:off x="119575" y="66450"/>
            <a:ext cx="10363200" cy="18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Garamond"/>
                <a:ea typeface="Garamond"/>
                <a:cs typeface="Garamond"/>
                <a:sym typeface="Garamond"/>
              </a:rPr>
              <a:t>AI-Based Early Warning and Landslide Risk Monitoring System </a:t>
            </a:r>
            <a:endParaRPr b="1" sz="3200"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>
            <p:ph type="title"/>
          </p:nvPr>
        </p:nvSpPr>
        <p:spPr>
          <a:xfrm>
            <a:off x="142098" y="15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AI-Based Early Warning and Landslide Risk Monitoring System</a:t>
            </a:r>
            <a:endParaRPr/>
          </a:p>
        </p:txBody>
      </p:sp>
      <p:sp>
        <p:nvSpPr>
          <p:cNvPr id="101" name="Google Shape;101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2" name="Google Shape;102;p2"/>
          <p:cNvSpPr txBox="1"/>
          <p:nvPr>
            <p:ph idx="11" type="ftr"/>
          </p:nvPr>
        </p:nvSpPr>
        <p:spPr>
          <a:xfrm>
            <a:off x="4633450" y="6356366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03" name="Google Shape;103;p2"/>
          <p:cNvSpPr/>
          <p:nvPr/>
        </p:nvSpPr>
        <p:spPr>
          <a:xfrm>
            <a:off x="67775" y="252250"/>
            <a:ext cx="9681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Civil G-5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3750" y="1500"/>
            <a:ext cx="1796173" cy="106232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658050" y="1296100"/>
            <a:ext cx="108759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</a:t>
            </a:r>
            <a:r>
              <a:rPr b="1" lang="en-US" sz="2400">
                <a:solidFill>
                  <a:schemeClr val="dk1"/>
                </a:solidFill>
              </a:rPr>
              <a:t>   </a:t>
            </a:r>
            <a:r>
              <a:rPr lang="en-US" sz="2400">
                <a:solidFill>
                  <a:schemeClr val="dk1"/>
                </a:solidFill>
              </a:rPr>
              <a:t>SIH26001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r>
              <a:rPr lang="en-US" sz="2400">
                <a:solidFill>
                  <a:schemeClr val="dk1"/>
                </a:solidFill>
              </a:rPr>
              <a:t>  AI-Based Early Warning and Landslide Risk Monitoring System</a:t>
            </a:r>
            <a:endParaRPr sz="2700"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</a:t>
            </a:r>
            <a:r>
              <a:rPr lang="en-US" sz="2400">
                <a:solidFill>
                  <a:schemeClr val="dk1"/>
                </a:solidFill>
              </a:rPr>
              <a:t>Disaster</a:t>
            </a:r>
            <a:r>
              <a:rPr lang="en-US" sz="2400">
                <a:solidFill>
                  <a:schemeClr val="dk1"/>
                </a:solidFill>
              </a:rPr>
              <a:t> Management / Artificial Intelligence and Machine Learning 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</a:t>
            </a:r>
            <a:r>
              <a:rPr lang="en-US" sz="2400">
                <a:solidFill>
                  <a:schemeClr val="dk1"/>
                </a:solidFill>
              </a:rPr>
              <a:t>Softw</a:t>
            </a:r>
            <a:r>
              <a:rPr lang="en-US" sz="2400">
                <a:solidFill>
                  <a:schemeClr val="dk1"/>
                </a:solidFill>
              </a:rPr>
              <a:t>are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 </a:t>
            </a:r>
            <a:r>
              <a:rPr lang="en-US" sz="2400">
                <a:solidFill>
                  <a:schemeClr val="dk1"/>
                </a:solidFill>
              </a:rPr>
              <a:t>Tech Titans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r>
              <a:rPr b="1" lang="en-US" sz="2400">
                <a:solidFill>
                  <a:schemeClr val="dk1"/>
                </a:solidFill>
              </a:rPr>
              <a:t>-  </a:t>
            </a:r>
            <a:r>
              <a:rPr lang="en-US" sz="2400">
                <a:solidFill>
                  <a:schemeClr val="dk1"/>
                </a:solidFill>
              </a:rPr>
              <a:t>Tech Titans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>
            <p:ph type="title"/>
          </p:nvPr>
        </p:nvSpPr>
        <p:spPr>
          <a:xfrm>
            <a:off x="1219200" y="8867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609600" y="1063825"/>
            <a:ext cx="11096100" cy="49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</a:rPr>
              <a:t>Process :</a:t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</a:rPr>
              <a:t>Data Collection → Data Processing → AI/ML Prediction → Risk Classification → Early Warning Alerts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</a:rPr>
              <a:t>Methodology :</a:t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Real-time environmental data is analyzed using AI/ML to predict landslide risks and provide early warnings.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114" name="Google Shape;114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5" name="Google Shape;115;p3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16" name="Google Shape;116;p3"/>
          <p:cNvSpPr/>
          <p:nvPr/>
        </p:nvSpPr>
        <p:spPr>
          <a:xfrm>
            <a:off x="120223" y="256521"/>
            <a:ext cx="12519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Civil G-5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427850" y="1059575"/>
            <a:ext cx="11498100" cy="7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461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5000"/>
              <a:buChar char="•"/>
            </a:pPr>
            <a:r>
              <a:rPr b="1" lang="en-US" sz="2400">
                <a:solidFill>
                  <a:schemeClr val="dk1"/>
                </a:solidFill>
              </a:rPr>
              <a:t>Feasibility of the Idea :</a:t>
            </a:r>
            <a:endParaRPr b="1"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Uses available weather data, IoT sensors, and AI/ML technology to predict landslide risks in real time.</a:t>
            </a:r>
            <a:endParaRPr sz="2200">
              <a:solidFill>
                <a:schemeClr val="dk1"/>
              </a:solidFill>
            </a:endParaRPr>
          </a:p>
          <a:p>
            <a:pPr indent="-5397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4900"/>
              <a:buChar char="•"/>
            </a:pPr>
            <a:r>
              <a:rPr b="1" lang="en-US" sz="2300">
                <a:solidFill>
                  <a:schemeClr val="dk1"/>
                </a:solidFill>
              </a:rPr>
              <a:t>Potential Challenges and Risks :</a:t>
            </a:r>
            <a:endParaRPr b="1" sz="2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Data accuracy, sensor reliability, network connectivity, and unpredictable environmental conditions.</a:t>
            </a:r>
            <a:endParaRPr sz="2200">
              <a:solidFill>
                <a:schemeClr val="dk1"/>
              </a:solidFill>
            </a:endParaRPr>
          </a:p>
          <a:p>
            <a:pPr indent="-5397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4900"/>
              <a:buChar char="•"/>
            </a:pPr>
            <a:r>
              <a:rPr b="1" lang="en-US" sz="2300">
                <a:solidFill>
                  <a:schemeClr val="dk1"/>
                </a:solidFill>
              </a:rPr>
              <a:t>Strategies to Overcome Challenges :</a:t>
            </a:r>
            <a:endParaRPr b="1" sz="2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Use multiple data sources, regular sensor monitoring, reliable ML models.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chemeClr val="dk1"/>
              </a:solidFill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26" name="Google Shape;126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7" name="Google Shape;127;p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28" name="Google Shape;128;p4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Titans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609600" y="1533313"/>
            <a:ext cx="10972800" cy="4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2545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Char char="•"/>
            </a:pPr>
            <a:r>
              <a:rPr b="1" lang="en-US" sz="2600">
                <a:solidFill>
                  <a:schemeClr val="dk1"/>
                </a:solidFill>
              </a:rPr>
              <a:t>Potential Impact</a:t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   </a:t>
            </a:r>
            <a:r>
              <a:rPr lang="en-US" sz="2400">
                <a:solidFill>
                  <a:schemeClr val="dk1"/>
                </a:solidFill>
              </a:rPr>
              <a:t> Provides early landslide warnings and helps protect communities in high-risk     areas.</a:t>
            </a:r>
            <a:endParaRPr sz="24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b="1" lang="en-US" sz="2600">
                <a:solidFill>
                  <a:schemeClr val="dk1"/>
                </a:solidFill>
              </a:rPr>
              <a:t> Benefits</a:t>
            </a:r>
            <a:endParaRPr b="1" sz="26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rabicPeriod"/>
            </a:pPr>
            <a:r>
              <a:rPr lang="en-US" sz="2500">
                <a:solidFill>
                  <a:schemeClr val="dk1"/>
                </a:solidFill>
              </a:rPr>
              <a:t>Saves lives and reduces property damage.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rabicPeriod"/>
            </a:pPr>
            <a:r>
              <a:rPr lang="en-US" sz="2500">
                <a:solidFill>
                  <a:schemeClr val="dk1"/>
                </a:solidFill>
              </a:rPr>
              <a:t>Supports faster emergency response.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rabicPeriod"/>
            </a:pPr>
            <a:r>
              <a:rPr lang="en-US" sz="2500">
                <a:solidFill>
                  <a:schemeClr val="dk1"/>
                </a:solidFill>
              </a:rPr>
              <a:t>Improves disaster preparedness.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rabicPeriod"/>
            </a:pPr>
            <a:r>
              <a:rPr lang="en-US" sz="2500">
                <a:solidFill>
                  <a:schemeClr val="dk1"/>
                </a:solidFill>
              </a:rPr>
              <a:t>Provides real-time risk monitoring.</a:t>
            </a:r>
            <a:endParaRPr sz="3200"/>
          </a:p>
        </p:txBody>
      </p:sp>
      <p:sp>
        <p:nvSpPr>
          <p:cNvPr id="138" name="Google Shape;138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40" name="Google Shape;140;p5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Titans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49" name="Google Shape;149;p6"/>
          <p:cNvSpPr txBox="1"/>
          <p:nvPr/>
        </p:nvSpPr>
        <p:spPr>
          <a:xfrm>
            <a:off x="609600" y="2795263"/>
            <a:ext cx="93853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" name="Google Shape;151;p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52" name="Google Shape;152;p6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Titans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